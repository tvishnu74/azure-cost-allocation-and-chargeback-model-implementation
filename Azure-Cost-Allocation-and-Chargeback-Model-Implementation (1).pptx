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64" r:id="rId201320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Parkinsans Bold"/>
      <p:regular r:id="rId201314"/>
    </p:embeddedFont>
    <p:embeddedFont>
      <p:font typeface="Reddit Mono Medium"/>
      <p:regular r:id="rId201315"/>
    </p:embeddedFont>
    <p:embeddedFont>
      <p:font typeface="Reddit Sans"/>
      <p:regular r:id="rId201316"/>
    </p:embeddedFont>
    <p:embeddedFont>
      <p:font typeface="Reddit Sans Medium"/>
      <p:regular r:id="rId201317"/>
    </p:embeddedFont>
    <p:embeddedFont>
      <p:font typeface="Reddit Sans SemiBold"/>
      <p:regular r:id="rId201318"/>
    </p:embeddedFont>
    <p:embeddedFont>
      <p:font typeface="Reddi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DD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-dashboard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costanalysis.png"/><Relationship Id="rId4" Type="http://schemas.openxmlformats.org/officeDocument/2006/relationships/image" Target="../media/image-exports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3" name="Shape 1"/>
          <p:cNvSpPr/>
          <p:nvPr/>
        </p:nvSpPr>
        <p:spPr>
          <a:xfrm>
            <a:off x="711182" y="711200"/>
            <a:ext cx="734895" cy="254000"/>
          </a:xfrm>
          <a:prstGeom prst="roundRect">
            <a:avLst>
              <a:gd name="adj" fmla="val 49999"/>
            </a:avLst>
          </a:prstGeom>
          <a:solidFill>
            <a:srgbClr val="FF842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755650"/>
            <a:ext cx="109048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AZ-00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182" y="1314450"/>
            <a:ext cx="6095848" cy="3626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112" kern="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Azure Cost Allocation and Chargeback Model Implementation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11182" y="5144591"/>
            <a:ext cx="6095848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 practical runbook for turning shared cloud consumption into visible ownership.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1182" y="6466483"/>
            <a:ext cx="6095848" cy="127000"/>
          </a:xfrm>
          <a:prstGeom prst="rect">
            <a:avLst/>
          </a:prstGeom>
          <a:solidFill>
            <a:srgbClr val="FF8420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6004223"/>
            <a:ext cx="609584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Student implementation guide · allocation, reporting, review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F4FE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19649" y="6019800"/>
            <a:ext cx="355591" cy="35560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F842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689458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Cloud spend becomes actionable when ownership is visible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8331" y="3011984"/>
            <a:ext cx="63498" cy="983853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179638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1F4F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5" y="2763838"/>
            <a:ext cx="1023416" cy="254000"/>
          </a:xfrm>
          <a:prstGeom prst="roundRect">
            <a:avLst>
              <a:gd name="adj" fmla="val 49999"/>
            </a:avLst>
          </a:prstGeom>
          <a:solidFill>
            <a:srgbClr val="1F4FE0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2808288"/>
            <a:ext cx="137900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ALLOCATE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585" y="3100388"/>
            <a:ext cx="568945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Allocate spend accurately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560068"/>
            <a:ext cx="568945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Allocate spend accurately to the departments that consume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331" y="4280495"/>
            <a:ext cx="63498" cy="1126232"/>
          </a:xfrm>
          <a:prstGeom prst="rect">
            <a:avLst/>
          </a:prstGeom>
          <a:solidFill>
            <a:srgbClr val="12813B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4432002"/>
            <a:ext cx="380990" cy="381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1281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5" y="5016202"/>
            <a:ext cx="927176" cy="254000"/>
          </a:xfrm>
          <a:prstGeom prst="roundRect">
            <a:avLst>
              <a:gd name="adj" fmla="val 49999"/>
            </a:avLst>
          </a:prstGeom>
          <a:solidFill>
            <a:srgbClr val="1281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6582" y="5060652"/>
            <a:ext cx="128276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PUBLISH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585" y="5352752"/>
            <a:ext cx="568945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Make ownership reviewable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09585" y="5812433"/>
            <a:ext cx="568945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Publish a monthly chargeback report that makes cost ownership reviewable.</a:t>
            </a:r>
            <a:endParaRPr lang="en-US" sz="1600" dirty="0"/>
          </a:p>
        </p:txBody>
      </p:sp>
      <p:pic>
        <p:nvPicPr>
          <p:cNvPr id="20" name="Dashboard Screenshot" descr="Azure Cost Allocation and Chargeback Model FinOps console showing Usage and Aler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00" y="2158555"/>
            <a:ext cx="4982110" cy="2682891"/>
          </a:xfrm>
          <a:prstGeom prst="rect">
            <a:avLst/>
          </a:prstGeom>
          <a:ln w="9525">
            <a:solidFill>
              <a:srgbClr val="D8DCE8"/>
            </a:solidFill>
          </a:ln>
          <a:effectLst>
            <a:outerShdw blurRad="90000" dist="30000" dir="5400000" rotWithShape="0">
              <a:srgbClr val="101A3A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Chargeback turns shared consumption into accountable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635720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model connects platform data to department action.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389" y="2946499"/>
            <a:ext cx="7656916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84534" y="3331421"/>
            <a:ext cx="4210744" cy="22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0" kern="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Collect Data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784534" y="4097117"/>
            <a:ext cx="4210744" cy="22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0" kern="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Map Costs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784534" y="4855156"/>
            <a:ext cx="4210744" cy="22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0" kern="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Publish Report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784534" y="5613195"/>
            <a:ext cx="4210744" cy="225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0" kern="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Act &amp; Forecast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How a monthly chargeback moves from data to report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24260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Two decision points route shared costs and disputes.</a:t>
            </a:r>
            <a:endParaRPr lang="en-US" sz="1900" dirty="0"/>
          </a:p>
        </p:txBody>
      </p:sp>
      <p:sp>
        <p:nvSpPr>
          <p:cNvPr id="4" name="Rounded Rectangle 3"/>
          <p:cNvSpPr/>
          <p:nvPr/>
        </p:nvSpPr>
        <p:spPr>
          <a:xfrm>
            <a:off x="1828800" y="1691640"/>
            <a:ext cx="274320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Set up tags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Label each resource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423160"/>
            <a:ext cx="274320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Get the cost data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From Azure billing</a:t>
            </a:r>
          </a:p>
        </p:txBody>
      </p:sp>
      <p:sp>
        <p:nvSpPr>
          <p:cNvPr id="6" name="Diamond 5"/>
          <p:cNvSpPr/>
          <p:nvPr/>
        </p:nvSpPr>
        <p:spPr>
          <a:xfrm>
            <a:off x="1691640" y="3154680"/>
            <a:ext cx="3017520" cy="77724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1F4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100" b="1">
                <a:solidFill>
                  <a:srgbClr val="101A3A"/>
                </a:solidFill>
                <a:latin typeface="Reddit Sans SemiBold"/>
              </a:rPr>
              <a:t>One team's cost?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10312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Shared cost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Used by many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114800"/>
            <a:ext cx="210312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Give to team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Full 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210312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Split it fairly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By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577840"/>
            <a:ext cx="274320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Add it all up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One total per team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240280"/>
            <a:ext cx="0" cy="182880"/>
          </a:xfrm>
          <a:prstGeom prst="line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2971800"/>
            <a:ext cx="0" cy="182880"/>
          </a:xfrm>
          <a:prstGeom prst="line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91640" y="3543300"/>
            <a:ext cx="91440" cy="571500"/>
          </a:xfrm>
          <a:prstGeom prst="bentConnector3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" y="3703320"/>
            <a:ext cx="502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F4FE0"/>
                </a:solidFill>
                <a:latin typeface="Reddit Sans SemiBold"/>
              </a:rPr>
              <a:t>No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617720" y="3543300"/>
            <a:ext cx="91440" cy="571500"/>
          </a:xfrm>
          <a:prstGeom prst="bentConnector3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66360" y="3703320"/>
            <a:ext cx="502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F4FE0"/>
                </a:solidFill>
                <a:latin typeface="Reddit Sans SemiBold"/>
              </a:rPr>
              <a:t>Yes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4663440"/>
            <a:ext cx="0" cy="182880"/>
          </a:xfrm>
          <a:prstGeom prst="line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83080" y="5394960"/>
            <a:ext cx="1417320" cy="182880"/>
          </a:xfrm>
          <a:prstGeom prst="bentConnector3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200400" y="4663440"/>
            <a:ext cx="1417320" cy="914400"/>
          </a:xfrm>
          <a:prstGeom prst="bentConnector3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52360" y="5577840"/>
            <a:ext cx="274320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Make the report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Every month</a:t>
            </a:r>
          </a:p>
        </p:txBody>
      </p:sp>
      <p:sp>
        <p:nvSpPr>
          <p:cNvPr id="21" name="Diamond 20"/>
          <p:cNvSpPr/>
          <p:nvPr/>
        </p:nvSpPr>
        <p:spPr>
          <a:xfrm>
            <a:off x="7315200" y="4617720"/>
            <a:ext cx="3017520" cy="77724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1F4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100" b="1">
                <a:solidFill>
                  <a:srgbClr val="101A3A"/>
                </a:solidFill>
                <a:latin typeface="Reddit Sans SemiBold"/>
              </a:rPr>
              <a:t>Any complaint?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886200"/>
            <a:ext cx="210312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Check it again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Fix if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886200"/>
            <a:ext cx="210312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Send report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To all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3154680"/>
            <a:ext cx="2743200" cy="548640"/>
          </a:xfrm>
          <a:prstGeom prst="roundRect">
            <a:avLst>
              <a:gd name="adj" fmla="val 9000"/>
            </a:avLst>
          </a:prstGeom>
          <a:solidFill>
            <a:srgbClr val="1F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Save records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For future audits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331720"/>
            <a:ext cx="2743200" cy="640080"/>
          </a:xfrm>
          <a:prstGeom prst="roundRect">
            <a:avLst>
              <a:gd name="adj" fmla="val 9000"/>
            </a:avLst>
          </a:prstGeom>
          <a:solidFill>
            <a:srgbClr val="10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Reddit Sans SemiBold"/>
              </a:rPr>
              <a:t>Fair cost sharing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Reddit Sans"/>
              </a:rPr>
              <a:t>Clear for everyone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823960" y="5394960"/>
            <a:ext cx="0" cy="182880"/>
          </a:xfrm>
          <a:prstGeom prst="line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315200" y="4434840"/>
            <a:ext cx="91440" cy="571500"/>
          </a:xfrm>
          <a:prstGeom prst="bentConnector3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75120" y="4617720"/>
            <a:ext cx="502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F4FE0"/>
                </a:solidFill>
                <a:latin typeface="Reddit Sans SemiBold"/>
              </a:rPr>
              <a:t>Yes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10241280" y="4434840"/>
            <a:ext cx="91440" cy="571500"/>
          </a:xfrm>
          <a:prstGeom prst="bentConnector3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744200" y="4617720"/>
            <a:ext cx="502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F4FE0"/>
                </a:solidFill>
                <a:latin typeface="Reddit Sans SemiBold"/>
              </a:rPr>
              <a:t>No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406640" y="3703320"/>
            <a:ext cx="1417320" cy="182880"/>
          </a:xfrm>
          <a:prstGeom prst="bentConnector3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8823960" y="3703320"/>
            <a:ext cx="1417320" cy="182880"/>
          </a:xfrm>
          <a:prstGeom prst="bentConnector3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823960" y="2971800"/>
            <a:ext cx="0" cy="182880"/>
          </a:xfrm>
          <a:prstGeom prst="line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0" y="5852160"/>
            <a:ext cx="2880360" cy="0"/>
          </a:xfrm>
          <a:prstGeom prst="line">
            <a:avLst/>
          </a:prstGeom>
          <a:ln w="19050">
            <a:solidFill>
              <a:srgbClr val="1F4F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The implementation workflow needs a clear rulebook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24260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Every stage names the decision it must make.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585" y="1714401"/>
            <a:ext cx="8200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1998861"/>
            <a:ext cx="2514537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139752"/>
            <a:ext cx="251453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Discover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2566392"/>
            <a:ext cx="25145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Inventory subscriptions, services, tags, and shared costs.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8914" y="1714401"/>
            <a:ext cx="8585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8914" y="1998861"/>
            <a:ext cx="2514537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2139752"/>
            <a:ext cx="251453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Define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8914" y="2566392"/>
            <a:ext cx="25145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Agree on allocation drivers and treatment of unallocated spend.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8244" y="1714401"/>
            <a:ext cx="8579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1998861"/>
            <a:ext cx="2514537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139752"/>
            <a:ext cx="251453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Publish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48244" y="2566392"/>
            <a:ext cx="25145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Issue the monthly chargeback report.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67573" y="1714401"/>
            <a:ext cx="86397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7573" y="1998861"/>
            <a:ext cx="2514537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2139752"/>
            <a:ext cx="251453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Resolve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67573" y="2566392"/>
            <a:ext cx="25145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Handle disputes through a visible review path.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Two use cases anchor the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24260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Start with the work that makes ownership visible every month.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585" y="1739801"/>
            <a:ext cx="5333867" cy="12700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120801"/>
            <a:ext cx="1311937" cy="254000"/>
          </a:xfrm>
          <a:prstGeom prst="roundRect">
            <a:avLst>
              <a:gd name="adj" fmla="val 49999"/>
            </a:avLst>
          </a:prstGeom>
          <a:solidFill>
            <a:srgbClr val="1F4FE0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2165251"/>
            <a:ext cx="16675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USE CASE 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585" y="2457351"/>
            <a:ext cx="510527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Allocate all spend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2917031"/>
            <a:ext cx="533386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Connect platform consumption to the right department.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244" y="1739801"/>
            <a:ext cx="5333867" cy="127000"/>
          </a:xfrm>
          <a:prstGeom prst="rect">
            <a:avLst/>
          </a:prstGeom>
          <a:solidFill>
            <a:srgbClr val="12813B"/>
          </a:solidFill>
          <a:ln/>
        </p:spPr>
      </p:sp>
      <p:sp>
        <p:nvSpPr>
          <p:cNvPr id="10" name="Shape 8"/>
          <p:cNvSpPr/>
          <p:nvPr/>
        </p:nvSpPr>
        <p:spPr>
          <a:xfrm>
            <a:off x="6476838" y="2120801"/>
            <a:ext cx="1311937" cy="254000"/>
          </a:xfrm>
          <a:prstGeom prst="roundRect">
            <a:avLst>
              <a:gd name="adj" fmla="val 49999"/>
            </a:avLst>
          </a:prstGeom>
          <a:solidFill>
            <a:srgbClr val="12813B"/>
          </a:solidFill>
          <a:ln/>
        </p:spPr>
      </p:sp>
      <p:sp>
        <p:nvSpPr>
          <p:cNvPr id="11" name="Text 9"/>
          <p:cNvSpPr/>
          <p:nvPr/>
        </p:nvSpPr>
        <p:spPr>
          <a:xfrm>
            <a:off x="6603835" y="2165251"/>
            <a:ext cx="16675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USE CASE 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76838" y="2457351"/>
            <a:ext cx="510527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Publish monthly reporting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76838" y="2917031"/>
            <a:ext cx="510527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Create a repeatable view of cost ownership and variance.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585" y="6034088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37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Reference cohort: 2 teams, T095 and T197, with 8 students.</a:t>
            </a:r>
            <a:endParaRPr lang="en-US" sz="1250" dirty="0"/>
          </a:p>
        </p:txBody>
      </p:sp>
      <p:pic>
        <p:nvPicPr>
          <p:cNvPr id="15" name="Cost Analysis Screenshot" descr="Azure Cost Management Cost analysis view showing accumulated cost breakdown by service, location and accou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19" y="3700000"/>
            <a:ext cx="4007600" cy="2150000"/>
          </a:xfrm>
          <a:prstGeom prst="rect">
            <a:avLst/>
          </a:prstGeom>
          <a:ln w="9525">
            <a:solidFill>
              <a:srgbClr val="D8DCE8"/>
            </a:solidFill>
          </a:ln>
          <a:effectLst>
            <a:outerShdw blurRad="90000" dist="30000" dir="5400000" rotWithShape="0">
              <a:srgbClr val="101A3A">
                <a:alpha val="18000"/>
              </a:srgbClr>
            </a:outerShdw>
          </a:effectLst>
        </p:spPr>
      </p:pic>
      <p:pic>
        <p:nvPicPr>
          <p:cNvPr id="16" name="Exports Screenshot" descr="Azure Cost Management Exports list showing scheduled monthly export job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38" y="3846769"/>
            <a:ext cx="5105272" cy="1856462"/>
          </a:xfrm>
          <a:prstGeom prst="rect">
            <a:avLst/>
          </a:prstGeom>
          <a:ln w="9525">
            <a:solidFill>
              <a:srgbClr val="D8DCE8"/>
            </a:solidFill>
          </a:ln>
          <a:effectLst>
            <a:outerShdw blurRad="90000" dist="30000" dir="5400000" rotWithShape="0">
              <a:srgbClr val="101A3A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Two bottlenecks can weaken trust in the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224260"/>
            <a:ext cx="2664056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1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8941" y="1256010"/>
            <a:ext cx="2888086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Risk · what can weaken trust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49839" y="1224260"/>
            <a:ext cx="3803257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9195" y="1256010"/>
            <a:ext cx="4027288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Control · what makes the method defensible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585" y="1579860"/>
            <a:ext cx="101598" cy="3413820"/>
          </a:xfrm>
          <a:prstGeom prst="rect">
            <a:avLst/>
          </a:prstGeom>
          <a:solidFill>
            <a:srgbClr val="D6126F"/>
          </a:solidFill>
          <a:ln/>
        </p:spPr>
      </p:sp>
      <p:sp>
        <p:nvSpPr>
          <p:cNvPr id="8" name="Shape 6"/>
          <p:cNvSpPr/>
          <p:nvPr/>
        </p:nvSpPr>
        <p:spPr>
          <a:xfrm>
            <a:off x="965176" y="1808460"/>
            <a:ext cx="927176" cy="254000"/>
          </a:xfrm>
          <a:prstGeom prst="roundRect">
            <a:avLst>
              <a:gd name="adj" fmla="val 49999"/>
            </a:avLst>
          </a:prstGeom>
          <a:solidFill>
            <a:srgbClr val="D6126F"/>
          </a:solidFill>
          <a:ln/>
        </p:spPr>
      </p:sp>
      <p:sp>
        <p:nvSpPr>
          <p:cNvPr id="9" name="Text 7"/>
          <p:cNvSpPr/>
          <p:nvPr/>
        </p:nvSpPr>
        <p:spPr>
          <a:xfrm>
            <a:off x="1092173" y="1852910"/>
            <a:ext cx="128276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RISK 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5176" y="2145010"/>
            <a:ext cx="472428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Shared platform costs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5176" y="2604691"/>
            <a:ext cx="497827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Common services resist clean allocation.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8244" y="1579860"/>
            <a:ext cx="101598" cy="3413820"/>
          </a:xfrm>
          <a:prstGeom prst="rect">
            <a:avLst/>
          </a:prstGeom>
          <a:solidFill>
            <a:srgbClr val="D6126F"/>
          </a:solidFill>
          <a:ln/>
        </p:spPr>
      </p:sp>
      <p:sp>
        <p:nvSpPr>
          <p:cNvPr id="13" name="Shape 11"/>
          <p:cNvSpPr/>
          <p:nvPr/>
        </p:nvSpPr>
        <p:spPr>
          <a:xfrm>
            <a:off x="6603835" y="1808460"/>
            <a:ext cx="927176" cy="254000"/>
          </a:xfrm>
          <a:prstGeom prst="roundRect">
            <a:avLst>
              <a:gd name="adj" fmla="val 49999"/>
            </a:avLst>
          </a:prstGeom>
          <a:solidFill>
            <a:srgbClr val="D6126F"/>
          </a:solidFill>
          <a:ln/>
        </p:spPr>
      </p:sp>
      <p:sp>
        <p:nvSpPr>
          <p:cNvPr id="14" name="Text 12"/>
          <p:cNvSpPr/>
          <p:nvPr/>
        </p:nvSpPr>
        <p:spPr>
          <a:xfrm>
            <a:off x="6730832" y="1852910"/>
            <a:ext cx="128276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RISK 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03835" y="2145010"/>
            <a:ext cx="472428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Methodology disputes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03835" y="2604691"/>
            <a:ext cx="497827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Departments may challenge how costs are assigned.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585" y="5171480"/>
            <a:ext cx="10972526" cy="1076920"/>
          </a:xfrm>
          <a:prstGeom prst="roundRect">
            <a:avLst>
              <a:gd name="adj" fmla="val 16981"/>
            </a:avLst>
          </a:prstGeom>
          <a:solidFill>
            <a:srgbClr val="B6FCB8"/>
          </a:solidFill>
          <a:ln/>
        </p:spPr>
      </p:sp>
      <p:sp>
        <p:nvSpPr>
          <p:cNvPr id="18" name="Text 16"/>
          <p:cNvSpPr/>
          <p:nvPr/>
        </p:nvSpPr>
        <p:spPr>
          <a:xfrm>
            <a:off x="812780" y="5425480"/>
            <a:ext cx="1056613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Control: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Make the method explicit: document allocation drivers, show exceptions, and give departments a predictable path to challenge or correct an allocation.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Student checklist: make every monthly report defensible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224260"/>
            <a:ext cx="955254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1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8941" y="1256010"/>
            <a:ext cx="117928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Prepare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1037" y="1224260"/>
            <a:ext cx="873798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50393" y="1256010"/>
            <a:ext cx="1097828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Define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1033" y="1224260"/>
            <a:ext cx="955254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0389" y="1256010"/>
            <a:ext cx="117928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Publish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22485" y="1224260"/>
            <a:ext cx="873798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1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841" y="1256010"/>
            <a:ext cx="1097828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331" y="2023666"/>
            <a:ext cx="63498" cy="469305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5" y="1605260"/>
            <a:ext cx="380990" cy="381000"/>
          </a:xfrm>
          <a:prstGeom prst="ellipse">
            <a:avLst/>
          </a:prstGeom>
          <a:solidFill>
            <a:srgbClr val="D2DCF9"/>
          </a:solidFill>
          <a:ln w="38099">
            <a:solidFill>
              <a:srgbClr val="1F4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576" y="1706860"/>
            <a:ext cx="68449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93770" y="1681460"/>
            <a:ext cx="1038834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Inventory shared and department-specific services.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8331" y="2493169"/>
            <a:ext cx="63498" cy="938808"/>
          </a:xfrm>
          <a:prstGeom prst="rect">
            <a:avLst/>
          </a:prstGeom>
          <a:solidFill>
            <a:srgbClr val="FF842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2543969"/>
            <a:ext cx="380990" cy="381000"/>
          </a:xfrm>
          <a:prstGeom prst="ellipse">
            <a:avLst/>
          </a:prstGeom>
          <a:solidFill>
            <a:srgbClr val="D2DCF9"/>
          </a:solidFill>
          <a:ln w="38099">
            <a:solidFill>
              <a:srgbClr val="FF8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8388" y="2645569"/>
            <a:ext cx="71296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93770" y="2620169"/>
            <a:ext cx="1038834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Define allocation drivers before the first report.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8331" y="3431977"/>
            <a:ext cx="63498" cy="938808"/>
          </a:xfrm>
          <a:prstGeom prst="rect">
            <a:avLst/>
          </a:prstGeom>
          <a:solidFill>
            <a:srgbClr val="FF8420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5" y="3482777"/>
            <a:ext cx="380990" cy="381000"/>
          </a:xfrm>
          <a:prstGeom prst="ellipse">
            <a:avLst/>
          </a:prstGeom>
          <a:solidFill>
            <a:srgbClr val="D2DCF9"/>
          </a:solidFill>
          <a:ln w="38099">
            <a:solidFill>
              <a:srgbClr val="FF84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8587" y="3584377"/>
            <a:ext cx="71257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93770" y="3558977"/>
            <a:ext cx="1038834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Document treatment of unallocated or shared platform costs.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8331" y="4370784"/>
            <a:ext cx="63498" cy="938808"/>
          </a:xfrm>
          <a:prstGeom prst="rect">
            <a:avLst/>
          </a:prstGeom>
          <a:solidFill>
            <a:srgbClr val="12813B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5" y="4421584"/>
            <a:ext cx="380990" cy="381000"/>
          </a:xfrm>
          <a:prstGeom prst="ellipse">
            <a:avLst/>
          </a:prstGeom>
          <a:solidFill>
            <a:srgbClr val="D2DCF9"/>
          </a:solidFill>
          <a:ln w="38099">
            <a:solidFill>
              <a:srgbClr val="1281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313" y="4523184"/>
            <a:ext cx="7190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93770" y="4497784"/>
            <a:ext cx="1038834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Publish the report on a repeatable monthly cadence.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68331" y="5309592"/>
            <a:ext cx="63498" cy="469305"/>
          </a:xfrm>
          <a:prstGeom prst="rect">
            <a:avLst/>
          </a:prstGeom>
          <a:solidFill>
            <a:srgbClr val="D6126F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5" y="5360392"/>
            <a:ext cx="380990" cy="381000"/>
          </a:xfrm>
          <a:prstGeom prst="ellipse">
            <a:avLst/>
          </a:prstGeom>
          <a:solidFill>
            <a:srgbClr val="D2DCF9"/>
          </a:solidFill>
          <a:ln w="38099">
            <a:solidFill>
              <a:srgbClr val="D612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8190" y="5461992"/>
            <a:ext cx="71326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93770" y="5436592"/>
            <a:ext cx="1038834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Track disputes, decisions, and methodology changes.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3" name="Shape 1"/>
          <p:cNvSpPr/>
          <p:nvPr/>
        </p:nvSpPr>
        <p:spPr>
          <a:xfrm>
            <a:off x="711182" y="1529457"/>
            <a:ext cx="2081260" cy="254000"/>
          </a:xfrm>
          <a:prstGeom prst="roundRect">
            <a:avLst>
              <a:gd name="adj" fmla="val 49999"/>
            </a:avLst>
          </a:prstGeom>
          <a:solidFill>
            <a:srgbClr val="12813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573907"/>
            <a:ext cx="243685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OPERATING PRINCIPLE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182" y="2012057"/>
            <a:ext cx="5994250" cy="2176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112" kern="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Remember the operating principle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11182" y="4366022"/>
            <a:ext cx="5994250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Good chargeback is accurate enough to trust, transparent enough to explain, and repeatable enough to operate every month.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F4FE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19649" y="6019800"/>
            <a:ext cx="355591" cy="35560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1281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2026-09-26T13:24:36Z</dcterms:created>
  <dcterms:modified xsi:type="dcterms:W3CDTF">2026-09-26T13:24:36Z</dcterms:modified>
</cp:coreProperties>
</file>